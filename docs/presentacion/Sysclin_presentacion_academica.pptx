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Tablas</c:v>
                </c:pt>
              </c:strCache>
            </c:strRef>
          </c:tx>
          <c:spPr>
            <a:solidFill>
              <a:srgbClr val="17324D"/>
            </a:solidFill>
          </c:spPr>
          <c:cat>
            <c:strRef>
              <c:f>Sheet1!$A$2:$A$8</c:f>
              <c:strCache>
                <c:ptCount val="7"/>
                <c:pt idx="0">
                  <c:v>Ventas y caja</c:v>
                </c:pt>
                <c:pt idx="1">
                  <c:v>Personas y generales</c:v>
                </c:pt>
                <c:pt idx="2">
                  <c:v>Registro clínico</c:v>
                </c:pt>
                <c:pt idx="3">
                  <c:v>Seguridad y auditoría</c:v>
                </c:pt>
                <c:pt idx="4">
                  <c:v>Referenciales agenda y clínica</c:v>
                </c:pt>
                <c:pt idx="5">
                  <c:v>Referenciales de ventas</c:v>
                </c:pt>
                <c:pt idx="6">
                  <c:v>Agenda y citas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20</c:v>
                </c:pt>
                <c:pt idx="2">
                  <c:v>17</c:v>
                </c:pt>
                <c:pt idx="3">
                  <c:v>13</c:v>
                </c:pt>
                <c:pt idx="4">
                  <c:v>12</c:v>
                </c:pt>
                <c:pt idx="5">
                  <c:v>10</c:v>
                </c:pt>
                <c:pt idx="6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B263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1B263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8FD0D4"/>
                </a:solidFill>
                <a:latin typeface="Calibri"/>
              </a:rPr>
              <a:t>TRABAJO DE CULMINACIÓN DE GRADO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Sysclin: sistema web de gestión clínica para la Clínica Integral Neuropsicológica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FDDE8"/>
                </a:solidFill>
                <a:latin typeface="Calibri"/>
              </a:rPr>
              <a:t>Agendamiento, consultorio y ventas: análisis, diseño, herramientas, funciones y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Autor: Manuel Ramirez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23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FDDE8"/>
                </a:solidFill>
                <a:latin typeface="Calibri"/>
              </a:rPr>
              <a:t>Asunción, Paraguay ·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PRESENTACIÓN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Contenido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691640"/>
            <a:ext cx="457200" cy="457200"/>
          </a:xfrm>
          <a:prstGeom prst="ellipse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6479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630"/>
                </a:solidFill>
                <a:latin typeface="Calibri"/>
              </a:rPr>
              <a:t>Contexto y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5B6770"/>
                </a:solidFill>
                <a:latin typeface="Calibri"/>
              </a:rPr>
              <a:t>Diapositivas 3 a 4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313432"/>
            <a:ext cx="457200" cy="457200"/>
          </a:xfrm>
          <a:prstGeom prst="ellipse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8658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630"/>
                </a:solidFill>
                <a:latin typeface="Calibri"/>
              </a:rPr>
              <a:t>Organización y usuarios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4048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5B6770"/>
                </a:solidFill>
                <a:latin typeface="Calibri"/>
              </a:rPr>
              <a:t>Diapositivas 5 a 6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2935224"/>
            <a:ext cx="457200" cy="457200"/>
          </a:xfrm>
          <a:prstGeom prst="ellipse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0837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630"/>
                </a:solidFill>
                <a:latin typeface="Calibri"/>
              </a:rPr>
              <a:t>Herramientas y arquitectura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02666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5B6770"/>
                </a:solidFill>
                <a:latin typeface="Calibri"/>
              </a:rPr>
              <a:t>Diapositivas 7 a 9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557016"/>
            <a:ext cx="457200" cy="457200"/>
          </a:xfrm>
          <a:prstGeom prst="ellipse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63016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630"/>
                </a:solidFill>
                <a:latin typeface="Calibri"/>
              </a:rPr>
              <a:t>Modelo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64845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5B6770"/>
                </a:solidFill>
                <a:latin typeface="Calibri"/>
              </a:rPr>
              <a:t>Diapositivas 10 a 12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178808"/>
            <a:ext cx="457200" cy="457200"/>
          </a:xfrm>
          <a:prstGeom prst="ellipse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519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630"/>
                </a:solidFill>
                <a:latin typeface="Calibri"/>
              </a:rPr>
              <a:t>Funciones del sistema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2702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5B6770"/>
                </a:solidFill>
                <a:latin typeface="Calibri"/>
              </a:rPr>
              <a:t>Diapositivas 13 a 18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4800600"/>
            <a:ext cx="457200" cy="457200"/>
          </a:xfrm>
          <a:prstGeom prst="ellipse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7375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630"/>
                </a:solidFill>
                <a:latin typeface="Calibri"/>
              </a:rPr>
              <a:t>Seguridad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892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5B6770"/>
                </a:solidFill>
                <a:latin typeface="Calibri"/>
              </a:rPr>
              <a:t>Diapositivas 19 a 23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5422392"/>
            <a:ext cx="457200" cy="457200"/>
          </a:xfrm>
          <a:prstGeom prst="ellipse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49554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B2630"/>
                </a:solidFill>
                <a:latin typeface="Calibri"/>
              </a:rPr>
              <a:t>Documentación, conclusiones y referencias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513831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 i="0">
                <a:solidFill>
                  <a:srgbClr val="5B6770"/>
                </a:solidFill>
                <a:latin typeface="Calibri"/>
              </a:rPr>
              <a:t>Diapositivas 24 a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1 · CONTEXTO Y PROBLEMA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La clínica gestionaba sus procesos de forma manual y dispersa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035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Agenda: </a:t>
            </a:r>
            <a:r>
              <a:rPr sz="1600">
                <a:solidFill>
                  <a:srgbClr val="1B2630"/>
                </a:solidFill>
                <a:latin typeface="Calibri"/>
              </a:rPr>
              <a:t>planillas manuales; desorganización de horarios y poca visibilidad de la disponibilidad real.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Citas: </a:t>
            </a:r>
            <a:r>
              <a:rPr sz="1600">
                <a:solidFill>
                  <a:srgbClr val="1B2630"/>
                </a:solidFill>
                <a:latin typeface="Calibri"/>
              </a:rPr>
              <a:t>reservas por teléfono, con errores, turnos superpuestos y reagendamientos lentos.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Recordatorios: </a:t>
            </a:r>
            <a:r>
              <a:rPr sz="1600">
                <a:solidFill>
                  <a:srgbClr val="1B2630"/>
                </a:solidFill>
                <a:latin typeface="Calibri"/>
              </a:rPr>
              <a:t>sin automatización; el personal administrativo avisa uno por uno.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Consultorio y ventas: </a:t>
            </a:r>
            <a:r>
              <a:rPr sz="1600">
                <a:solidFill>
                  <a:srgbClr val="1B2630"/>
                </a:solidFill>
                <a:latin typeface="Calibri"/>
              </a:rPr>
              <a:t>registros clínicos, facturación y cobros sin un sistema que los centralice.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480560" cy="33832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ifra"/>
          <p:cNvSpPr txBox="1"/>
          <p:nvPr/>
        </p:nvSpPr>
        <p:spPr>
          <a:xfrm>
            <a:off x="7498079" y="18288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7324D"/>
                </a:solidFill>
                <a:latin typeface="Cambria"/>
              </a:rPr>
              <a:t>3</a:t>
            </a:r>
          </a:p>
        </p:txBody>
      </p:sp>
      <p:sp>
        <p:nvSpPr>
          <p:cNvPr id="9" name="Cifra etiqueta"/>
          <p:cNvSpPr txBox="1"/>
          <p:nvPr/>
        </p:nvSpPr>
        <p:spPr>
          <a:xfrm>
            <a:off x="7498079" y="26060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módulos de negocio</a:t>
            </a:r>
          </a:p>
        </p:txBody>
      </p:sp>
      <p:sp>
        <p:nvSpPr>
          <p:cNvPr id="10" name="Cifra"/>
          <p:cNvSpPr txBox="1"/>
          <p:nvPr/>
        </p:nvSpPr>
        <p:spPr>
          <a:xfrm>
            <a:off x="9601200" y="18288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7324D"/>
                </a:solidFill>
                <a:latin typeface="Cambria"/>
              </a:rPr>
              <a:t>27</a:t>
            </a:r>
          </a:p>
        </p:txBody>
      </p:sp>
      <p:sp>
        <p:nvSpPr>
          <p:cNvPr id="11" name="Cifra etiqueta"/>
          <p:cNvSpPr txBox="1"/>
          <p:nvPr/>
        </p:nvSpPr>
        <p:spPr>
          <a:xfrm>
            <a:off x="9601200" y="26060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referenciales (catálogos)</a:t>
            </a:r>
          </a:p>
        </p:txBody>
      </p:sp>
      <p:sp>
        <p:nvSpPr>
          <p:cNvPr id="12" name="Cifra"/>
          <p:cNvSpPr txBox="1"/>
          <p:nvPr/>
        </p:nvSpPr>
        <p:spPr>
          <a:xfrm>
            <a:off x="7498079" y="35661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7324D"/>
                </a:solidFill>
                <a:latin typeface="Cambria"/>
              </a:rPr>
              <a:t>23</a:t>
            </a:r>
          </a:p>
        </p:txBody>
      </p:sp>
      <p:sp>
        <p:nvSpPr>
          <p:cNvPr id="13" name="Cifra etiqueta"/>
          <p:cNvSpPr txBox="1"/>
          <p:nvPr/>
        </p:nvSpPr>
        <p:spPr>
          <a:xfrm>
            <a:off x="7498079" y="43434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movimientos</a:t>
            </a:r>
          </a:p>
        </p:txBody>
      </p:sp>
      <p:sp>
        <p:nvSpPr>
          <p:cNvPr id="14" name="Cifra"/>
          <p:cNvSpPr txBox="1"/>
          <p:nvPr/>
        </p:nvSpPr>
        <p:spPr>
          <a:xfrm>
            <a:off x="9601200" y="35661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7F86"/>
                </a:solidFill>
                <a:latin typeface="Cambria"/>
              </a:rPr>
              <a:t>51</a:t>
            </a:r>
          </a:p>
        </p:txBody>
      </p:sp>
      <p:sp>
        <p:nvSpPr>
          <p:cNvPr id="15" name="Cifra etiqueta"/>
          <p:cNvSpPr txBox="1"/>
          <p:nvPr/>
        </p:nvSpPr>
        <p:spPr>
          <a:xfrm>
            <a:off x="9601200" y="43434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entidades en total</a:t>
            </a:r>
          </a:p>
        </p:txBody>
      </p:sp>
      <p:sp>
        <p:nvSpPr>
          <p:cNvPr id="16" name="Fuente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770"/>
                </a:solidFill>
                <a:latin typeface="Calibri"/>
              </a:rPr>
              <a:t>Fuente: Visión de Proyecto, TALLER V2, sección 1.1.3 (elaboración propia).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1 · CONTEXTO Y PROBLEMA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Un solo sistema para agendar, atender y cobrar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2630"/>
                </a:solidFill>
                <a:latin typeface="Calibri"/>
              </a:rPr>
              <a:t>Objetivo: centralizar el agendamiento, el consultorio y las ventas y cobros de la Clínica Integral Neuropsicológica, con acceso diferenciado por 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24D"/>
                </a:solidFill>
                <a:latin typeface="Cambria"/>
              </a:rPr>
              <a:t>Agendamiento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Agenda médica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Citas y reagendamiento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Avisos recordatorios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Lista de espera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46888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24D"/>
                </a:solidFill>
                <a:latin typeface="Cambria"/>
              </a:rPr>
              <a:t>Consultorio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320040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Ficha y consulta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Diagnóstico y tratamiento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Órdenes, recetas y certificados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PEI y derivaciones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46888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24D"/>
                </a:solidFill>
                <a:latin typeface="Cambria"/>
              </a:rPr>
              <a:t>Ventas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20040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Pedidos y presupuestos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Facturación y notas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Apertura, cierre y arqueo de caja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Cobranzas</a:t>
            </a:r>
          </a:p>
        </p:txBody>
      </p:sp>
      <p:sp>
        <p:nvSpPr>
          <p:cNvPr id="16" name="Fuente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770"/>
                </a:solidFill>
                <a:latin typeface="Calibri"/>
              </a:rPr>
              <a:t>Fuente: Visión de Proyecto, TALLER V2, sección 1.1.2. Se suman 27 referenciales transversales y los informes.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2 · ORGANIZACIÓN Y USUARIOS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Organigrama de la Clínica Integral Neuropsicológica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0248" y="1554480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Directora General / Neuropsicóloga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Dra. Joanna Muñoz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8" y="2377440"/>
            <a:ext cx="0" cy="36576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2743200"/>
            <a:ext cx="6126480" cy="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2743200"/>
            <a:ext cx="0" cy="27432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2743200"/>
            <a:ext cx="0" cy="27432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45920" y="3017520"/>
            <a:ext cx="2743200" cy="59436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Área Administrativa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017520"/>
            <a:ext cx="2743200" cy="59436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Área Clínica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3611880"/>
            <a:ext cx="0" cy="32004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11580" y="3931920"/>
            <a:ext cx="3611880" cy="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11580" y="3931920"/>
            <a:ext cx="0" cy="27432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17520" y="3931920"/>
            <a:ext cx="0" cy="27432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23460" y="3931920"/>
            <a:ext cx="0" cy="27432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0" y="3611880"/>
            <a:ext cx="0" cy="32004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38160" y="3931920"/>
            <a:ext cx="2011680" cy="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138160" y="3931920"/>
            <a:ext cx="0" cy="27432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49840" y="3931920"/>
            <a:ext cx="0" cy="274320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4206240"/>
            <a:ext cx="1508760" cy="8686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 w="1270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324D"/>
                </a:solidFill>
                <a:latin typeface="Calibri"/>
              </a:rPr>
              <a:t>Secretaria / Agendamiento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63140" y="4206240"/>
            <a:ext cx="1508760" cy="8686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 w="1270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324D"/>
                </a:solidFill>
                <a:latin typeface="Calibri"/>
              </a:rPr>
              <a:t>Facturación y cobros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4206240"/>
            <a:ext cx="1508760" cy="8686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 w="1270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324D"/>
                </a:solidFill>
                <a:latin typeface="Calibri"/>
              </a:rPr>
              <a:t>Cajero/a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4206240"/>
            <a:ext cx="1737360" cy="8686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 w="1270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324D"/>
                </a:solidFill>
                <a:latin typeface="Calibri"/>
              </a:rPr>
              <a:t>Psicólogo/a clínico/a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4206240"/>
            <a:ext cx="1737360" cy="8686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 w="1270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324D"/>
                </a:solidFill>
                <a:latin typeface="Calibri"/>
              </a:rPr>
              <a:t>Fonoaudiólogo/a</a:t>
            </a:r>
          </a:p>
        </p:txBody>
      </p:sp>
      <p:sp>
        <p:nvSpPr>
          <p:cNvPr id="27" name="Fuente"/>
          <p:cNvSpPr txBox="1"/>
          <p:nvPr/>
        </p:nvSpPr>
        <p:spPr>
          <a:xfrm>
            <a:off x="548640" y="56692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770"/>
                </a:solidFill>
                <a:latin typeface="Calibri"/>
              </a:rPr>
              <a:t>Figura 1. Organigrama de la CIN. Fuente: Visión de Proyecto, TALLER V2, sección 1.1.1.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2 · ORGANIZACIÓN Y USUARIOS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Cada cargo del organigrama se traduce en un rol de acceso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926080"/>
                <a:gridCol w="59436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Rol del sistema</a:t>
                      </a:r>
                    </a:p>
                  </a:txBody>
                  <a:tcPr marL="91440" marR="91440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Cargo en la clínica</a:t>
                      </a:r>
                    </a:p>
                  </a:txBody>
                  <a:tcPr marL="91440" marR="91440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Alcance principal</a:t>
                      </a:r>
                    </a:p>
                  </a:txBody>
                  <a:tcPr marL="91440" marR="91440" marT="36576" marB="36576" anchor="ctr"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Administrador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Administración del sistema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Usuarios, permisos, accesos, auditoría completa y configuración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Recepción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Secretaria / agendamiento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Agenda, citas, lista de espera y fichas de pacientes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Clínico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Psicólogo/a, fonoaudiólogo/a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Su propia agenda (solo lectura), consultas, diagnósticos y tratamientos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Ventas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Facturación, cobros y caja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Pedidos, facturas, caja y cobranzas; del PEI ve solo la referencia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Superadministrador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Cuenta técnica inicial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Administra la plataforma; no accede a la gestión clínica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Una persona puede tener más de un rol. Los permisos se asignan por módulo y por rol, no por pantalla.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3 · HERRAMIENTAS Y ARQUITECTURA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Herramientas utilizadas en el desarrollo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8412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Capa</a:t>
                      </a:r>
                    </a:p>
                  </a:txBody>
                  <a:tcPr marL="91440" marR="91440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Herramientas</a:t>
                      </a:r>
                    </a:p>
                  </a:txBody>
                  <a:tcPr marL="91440" marR="91440" marT="36576" marB="36576" anchor="ctr"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Servidor de aplicación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Python 3.12, Flask 3.1, Gunicorn, Flask-WTF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Base de datos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PostgreSQL 17 (psycopg2), funciones y triggers en PL/pgSQL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Interfaz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Jinja2, Bootstrap 5, AdminLTE 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Idiomas y tareas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Flask-Babel (i18n), APScheduler (tareas programadas)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Documentos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WeasyPrint, ReportLab, xhtml2pdf, python-docx, openpyxl, qrcode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Mensajería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Correo SMTP (MFA y alertas) y WhatsApp mediante UltraMsg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Infraestructura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Docker Compose, nginx (HTTPS), pg_dump con cifrado GPG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Modelado y pruebas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StarUML (UML), Architect (DER), Playwright (capturas)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7" name="Fuente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770"/>
                </a:solidFill>
                <a:latin typeface="Calibri"/>
              </a:rPr>
              <a:t>Fuente: requirements.txt y docker-compose.yml del proyecto.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3 · HERRAMIENTAS Y ARQUITECTURA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Arquitectura en capas: de la ruta al dato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 w="1270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7324D"/>
                </a:solidFill>
                <a:latin typeface="Calibri"/>
              </a:rPr>
              <a:t>Navegador</a:t>
            </a:r>
          </a:p>
          <a:p>
            <a:pPr algn="ctr"/>
            <a:r>
              <a:rPr sz="1300" b="0">
                <a:solidFill>
                  <a:srgbClr val="17324D"/>
                </a:solidFill>
                <a:latin typeface="Calibri"/>
              </a:rPr>
              <a:t>usuario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65176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nginx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TLS 1.2 / 1.3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737360"/>
            <a:ext cx="3931920" cy="356616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 w="1270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8288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Calibri"/>
              </a:rPr>
              <a:t>Aplicación Flask (contenedor app)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286000"/>
            <a:ext cx="3383280" cy="64008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Rutas y API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app/rutas por módulo y entidad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3108960"/>
            <a:ext cx="3383280" cy="64008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Servicios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PDF, correo, WhatsApp, permisos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3931920"/>
            <a:ext cx="3383280" cy="64008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DAO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app/dao: acceso a datos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03720" y="2926080"/>
            <a:ext cx="0" cy="182880"/>
          </a:xfrm>
          <a:prstGeom prst="line">
            <a:avLst/>
          </a:prstGeom>
          <a:ln w="1905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03720" y="3749039"/>
            <a:ext cx="0" cy="182881"/>
          </a:xfrm>
          <a:prstGeom prst="line">
            <a:avLst/>
          </a:prstGeom>
          <a:ln w="1905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0" y="265176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PostgreSQL 17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103 tablas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3108960"/>
            <a:ext cx="457200" cy="0"/>
          </a:xfrm>
          <a:prstGeom prst="line">
            <a:avLst/>
          </a:prstGeom>
          <a:ln w="1905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80560" y="3108960"/>
            <a:ext cx="457200" cy="0"/>
          </a:xfrm>
          <a:prstGeom prst="line">
            <a:avLst/>
          </a:prstGeom>
          <a:ln w="1905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9680" y="3108960"/>
            <a:ext cx="640080" cy="0"/>
          </a:xfrm>
          <a:prstGeom prst="line">
            <a:avLst/>
          </a:prstGeom>
          <a:ln w="1905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12080" y="5486400"/>
            <a:ext cx="3383280" cy="54864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 w="1270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324D"/>
                </a:solidFill>
                <a:latin typeface="Calibri"/>
              </a:rPr>
              <a:t>Tareas programadas (APScheduler)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4206240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 w="1270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324D"/>
                </a:solidFill>
                <a:latin typeface="Calibri"/>
              </a:rPr>
              <a:t>Respaldo diario</a:t>
            </a:r>
          </a:p>
          <a:p>
            <a:pPr algn="ctr"/>
            <a:r>
              <a:rPr sz="1200" b="0">
                <a:solidFill>
                  <a:srgbClr val="17324D"/>
                </a:solidFill>
                <a:latin typeface="Calibri"/>
              </a:rPr>
              <a:t>pg_dump + GPG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0561320" y="3566160"/>
            <a:ext cx="0" cy="640080"/>
          </a:xfrm>
          <a:prstGeom prst="line">
            <a:avLst/>
          </a:prstGeom>
          <a:ln w="1905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09760" y="1554480"/>
            <a:ext cx="2103120" cy="73152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 w="12700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324D"/>
                </a:solidFill>
                <a:latin typeface="Calibri"/>
              </a:rPr>
              <a:t>Correo y WhatsApp</a:t>
            </a:r>
          </a:p>
          <a:p>
            <a:pPr algn="ctr"/>
            <a:r>
              <a:rPr sz="1100" b="0">
                <a:solidFill>
                  <a:srgbClr val="17324D"/>
                </a:solidFill>
                <a:latin typeface="Calibri"/>
              </a:rPr>
              <a:t>servicios externos</a:t>
            </a:r>
          </a:p>
        </p:txBody>
      </p:sp>
      <p:sp>
        <p:nvSpPr>
          <p:cNvPr id="23" name="Fuente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770"/>
                </a:solidFill>
                <a:latin typeface="Calibri"/>
              </a:rPr>
              <a:t>Figura 2. Arquitectura general de Sysclin. Fuente: elaboración propia.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3 · HERRAMIENTAS Y ARQUITECTURA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Despliegue en contenedores con respaldo automático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694944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291840"/>
                <a:gridCol w="12801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Contenedor</a:t>
                      </a:r>
                    </a:p>
                  </a:txBody>
                  <a:tcPr marL="91440" marR="91440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Función</a:t>
                      </a:r>
                    </a:p>
                  </a:txBody>
                  <a:tcPr marL="91440" marR="91440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Puerto</a:t>
                      </a:r>
                    </a:p>
                  </a:txBody>
                  <a:tcPr marL="91440" marR="91440" marT="36576" marB="36576" anchor="ctr">
                    <a:solidFill>
                      <a:srgbClr val="17324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syscomcli_bd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PostgreSQL 17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5434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syscomcli_app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Flask (Gunicorn)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5005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syscomcli_backup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pg_dump diario cifrado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interno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Calibri"/>
                        </a:rPr>
                        <a:t>nginx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Proxy HTTPS, TLS 1.2/1.3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630"/>
                          </a:solidFill>
                          <a:latin typeface="Calibri"/>
                        </a:rPr>
                        <a:t>80 / 443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630"/>
                </a:solidFill>
                <a:latin typeface="Calibri"/>
              </a:rPr>
              <a:t>La base se crea con las migraciones 00 a 18, una por módulo. Los cambios nuevos pasan primero por una migración temporal que se valida y luego se fusiona en el esquema 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ifra"/>
          <p:cNvSpPr txBox="1"/>
          <p:nvPr/>
        </p:nvSpPr>
        <p:spPr>
          <a:xfrm>
            <a:off x="8412480" y="182880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7324D"/>
                </a:solidFill>
                <a:latin typeface="Cambria"/>
              </a:rPr>
              <a:t>24 h</a:t>
            </a:r>
          </a:p>
        </p:txBody>
      </p:sp>
      <p:sp>
        <p:nvSpPr>
          <p:cNvPr id="10" name="Cifra etiqueta"/>
          <p:cNvSpPr txBox="1"/>
          <p:nvPr/>
        </p:nvSpPr>
        <p:spPr>
          <a:xfrm>
            <a:off x="8412480" y="26060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intervalo del respaldo</a:t>
            </a:r>
          </a:p>
        </p:txBody>
      </p:sp>
      <p:sp>
        <p:nvSpPr>
          <p:cNvPr id="11" name="Cifra"/>
          <p:cNvSpPr txBox="1"/>
          <p:nvPr/>
        </p:nvSpPr>
        <p:spPr>
          <a:xfrm>
            <a:off x="8412480" y="329184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7F86"/>
                </a:solidFill>
                <a:latin typeface="Cambria"/>
              </a:rPr>
              <a:t>14 días</a:t>
            </a:r>
          </a:p>
        </p:txBody>
      </p:sp>
      <p:sp>
        <p:nvSpPr>
          <p:cNvPr id="12" name="Cifra etiqueta"/>
          <p:cNvSpPr txBox="1"/>
          <p:nvPr/>
        </p:nvSpPr>
        <p:spPr>
          <a:xfrm>
            <a:off x="8412480" y="40690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de retención de respaldos</a:t>
            </a:r>
          </a:p>
        </p:txBody>
      </p:sp>
      <p:sp>
        <p:nvSpPr>
          <p:cNvPr id="13" name="Fuente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770"/>
                </a:solidFill>
                <a:latin typeface="Calibri"/>
              </a:rPr>
              <a:t>Fuente: dock/docker-compose.yml y dock/backup/backup.sh.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4 · MODELO DE DATOS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El modelo de datos reúne 103 tablas organizadas por dominio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72237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64592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ifra"/>
          <p:cNvSpPr txBox="1"/>
          <p:nvPr/>
        </p:nvSpPr>
        <p:spPr>
          <a:xfrm>
            <a:off x="8595360" y="18288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7324D"/>
                </a:solidFill>
                <a:latin typeface="Cambria"/>
              </a:rPr>
              <a:t>103</a:t>
            </a:r>
          </a:p>
        </p:txBody>
      </p:sp>
      <p:sp>
        <p:nvSpPr>
          <p:cNvPr id="9" name="Cifra etiqueta"/>
          <p:cNvSpPr txBox="1"/>
          <p:nvPr/>
        </p:nvSpPr>
        <p:spPr>
          <a:xfrm>
            <a:off x="8595360" y="26060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tablas</a:t>
            </a:r>
          </a:p>
        </p:txBody>
      </p:sp>
      <p:sp>
        <p:nvSpPr>
          <p:cNvPr id="10" name="Cifra"/>
          <p:cNvSpPr txBox="1"/>
          <p:nvPr/>
        </p:nvSpPr>
        <p:spPr>
          <a:xfrm>
            <a:off x="8595360" y="32004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7F86"/>
                </a:solidFill>
                <a:latin typeface="Cambria"/>
              </a:rPr>
              <a:t>130+</a:t>
            </a:r>
          </a:p>
        </p:txBody>
      </p:sp>
      <p:sp>
        <p:nvSpPr>
          <p:cNvPr id="11" name="Cifra etiqueta"/>
          <p:cNvSpPr txBox="1"/>
          <p:nvPr/>
        </p:nvSpPr>
        <p:spPr>
          <a:xfrm>
            <a:off x="8595360" y="397763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triggers de fecha y auditoría</a:t>
            </a:r>
          </a:p>
        </p:txBody>
      </p:sp>
      <p:sp>
        <p:nvSpPr>
          <p:cNvPr id="12" name="Cifra"/>
          <p:cNvSpPr txBox="1"/>
          <p:nvPr/>
        </p:nvSpPr>
        <p:spPr>
          <a:xfrm>
            <a:off x="8595360" y="457200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7324D"/>
                </a:solidFill>
                <a:latin typeface="Cambria"/>
              </a:rPr>
              <a:t>11</a:t>
            </a:r>
          </a:p>
        </p:txBody>
      </p:sp>
      <p:sp>
        <p:nvSpPr>
          <p:cNvPr id="13" name="Cifra etiqueta"/>
          <p:cNvSpPr txBox="1"/>
          <p:nvPr/>
        </p:nvSpPr>
        <p:spPr>
          <a:xfrm>
            <a:off x="8595360" y="53492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funciones</a:t>
            </a:r>
          </a:p>
        </p:txBody>
      </p:sp>
      <p:sp>
        <p:nvSpPr>
          <p:cNvPr id="14" name="Cifra"/>
          <p:cNvSpPr txBox="1"/>
          <p:nvPr/>
        </p:nvSpPr>
        <p:spPr>
          <a:xfrm>
            <a:off x="10058400" y="457200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7324D"/>
                </a:solidFill>
                <a:latin typeface="Cambria"/>
              </a:rPr>
              <a:t>7</a:t>
            </a:r>
          </a:p>
        </p:txBody>
      </p:sp>
      <p:sp>
        <p:nvSpPr>
          <p:cNvPr id="15" name="Cifra etiqueta"/>
          <p:cNvSpPr txBox="1"/>
          <p:nvPr/>
        </p:nvSpPr>
        <p:spPr>
          <a:xfrm>
            <a:off x="10058400" y="53492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vistas</a:t>
            </a:r>
          </a:p>
        </p:txBody>
      </p:sp>
      <p:sp>
        <p:nvSpPr>
          <p:cNvPr id="16" name="Fuente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770"/>
                </a:solidFill>
                <a:latin typeface="Calibri"/>
              </a:rPr>
              <a:t>Figura 3. Tablas por dominio. Fuente: conteo sobre migrations/01 a 15.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4 · MODELO DE DATOS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Diagrama entidad-relación completo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d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371600"/>
            <a:ext cx="8260163" cy="4572000"/>
          </a:xfrm>
          <a:prstGeom prst="rect">
            <a:avLst/>
          </a:prstGeom>
        </p:spPr>
      </p:pic>
      <p:sp>
        <p:nvSpPr>
          <p:cNvPr id="7" name="Fuente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770"/>
                </a:solidFill>
                <a:latin typeface="Calibri"/>
              </a:rPr>
              <a:t>Figura 4. DER de Sysclin (versión completa en docs/base_de_datos). Fuente: elaboración propia.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4 · MODELO DE DATOS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Reglas de diseño que gobiernan el modelo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Cambria"/>
              </a:rPr>
              <a:t>Consulta unificada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630"/>
                </a:solidFill>
                <a:latin typeface="Calibri"/>
              </a:rPr>
              <a:t>La consulta es un espacio de trabajo único; no existe una entidad “episodio” aparte.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Cambria"/>
              </a:rPr>
              <a:t>Multimoneda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3317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630"/>
                </a:solidFill>
                <a:latin typeface="Calibri"/>
              </a:rPr>
              <a:t>Importes en numeric(18,2); la moneda la fija la apertura de caja.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4592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Cambria"/>
              </a:rPr>
              <a:t>Historia clínica permanente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3317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630"/>
                </a:solidFill>
                <a:latin typeface="Calibri"/>
              </a:rPr>
              <a:t>Los datos clínicos no se borran físicamente; se conservan y se auditan.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Cambria"/>
              </a:rPr>
              <a:t>Dos patrones de pantalla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630"/>
                </a:solidFill>
                <a:latin typeface="Calibri"/>
              </a:rPr>
              <a:t>Referencial: tabla con modal. Entidad compleja: índice más pantalla de alta.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3749039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Cambria"/>
              </a:rPr>
              <a:t>Esquema versionado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443484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630"/>
                </a:solidFill>
                <a:latin typeface="Calibri"/>
              </a:rPr>
              <a:t>Migraciones 00 a 18 por módulo, validadas con una base temporal.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749039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Cambria"/>
              </a:rPr>
              <a:t>DER sincronizado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443484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630"/>
                </a:solidFill>
                <a:latin typeface="Calibri"/>
              </a:rPr>
              <a:t>Los diagramas se verifican contra la base real con scripts propios.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5 · FUNCIONES DEL SISTEMA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Flujo funcional de punta a punta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1417320" cy="109728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Paciente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alta y ficha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3108960"/>
            <a:ext cx="182880" cy="0"/>
          </a:xfrm>
          <a:prstGeom prst="line">
            <a:avLst/>
          </a:prstGeom>
          <a:ln w="1905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48840" y="2560320"/>
            <a:ext cx="1417320" cy="109728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Cita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reserva y recordatorio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3108960"/>
            <a:ext cx="182879" cy="0"/>
          </a:xfrm>
          <a:prstGeom prst="line">
            <a:avLst/>
          </a:prstGeom>
          <a:ln w="1905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39" y="2560320"/>
            <a:ext cx="1417320" cy="109728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Consulta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diagnóstico y PEI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66359" y="3108960"/>
            <a:ext cx="182881" cy="0"/>
          </a:xfrm>
          <a:prstGeom prst="line">
            <a:avLst/>
          </a:prstGeom>
          <a:ln w="1905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49240" y="2560320"/>
            <a:ext cx="1417320" cy="109728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Pedido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presupuesto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66559" y="3108960"/>
            <a:ext cx="182881" cy="0"/>
          </a:xfrm>
          <a:prstGeom prst="line">
            <a:avLst/>
          </a:prstGeom>
          <a:ln w="1905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0" y="2560320"/>
            <a:ext cx="1417320" cy="109728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Factura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emisión y notas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6760" y="3108960"/>
            <a:ext cx="182880" cy="0"/>
          </a:xfrm>
          <a:prstGeom prst="line">
            <a:avLst/>
          </a:prstGeom>
          <a:ln w="1905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49640" y="2560320"/>
            <a:ext cx="1417320" cy="109728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Cobranza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forma de cobro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66960" y="3108960"/>
            <a:ext cx="182880" cy="0"/>
          </a:xfrm>
          <a:prstGeom prst="line">
            <a:avLst/>
          </a:prstGeom>
          <a:ln w="19050">
            <a:solidFill>
              <a:srgbClr val="5B677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149840" y="2560320"/>
            <a:ext cx="1417320" cy="109728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Caja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arqueo y cierre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Cambria"/>
              </a:rPr>
              <a:t>Quién interviene en cada tramo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600"/>
              </a:spcAft>
              <a:buChar char="•"/>
            </a:pPr>
            <a:r>
              <a:rPr b="1" sz="1500">
                <a:solidFill>
                  <a:srgbClr val="17324D"/>
                </a:solidFill>
                <a:latin typeface="Calibri"/>
              </a:rPr>
              <a:t>Recepción: </a:t>
            </a:r>
            <a:r>
              <a:rPr sz="1500">
                <a:solidFill>
                  <a:srgbClr val="1B2630"/>
                </a:solidFill>
                <a:latin typeface="Calibri"/>
              </a:rPr>
              <a:t>paciente, ficha, cita y lista de espera.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b="1" sz="1500">
                <a:solidFill>
                  <a:srgbClr val="17324D"/>
                </a:solidFill>
                <a:latin typeface="Calibri"/>
              </a:rPr>
              <a:t>Clínico: </a:t>
            </a:r>
            <a:r>
              <a:rPr sz="1500">
                <a:solidFill>
                  <a:srgbClr val="1B2630"/>
                </a:solidFill>
                <a:latin typeface="Calibri"/>
              </a:rPr>
              <a:t>consulta, diagnóstico, receta, certificado, PEI y derivación.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b="1" sz="1500">
                <a:solidFill>
                  <a:srgbClr val="17324D"/>
                </a:solidFill>
                <a:latin typeface="Calibri"/>
              </a:rPr>
              <a:t>Ventas: </a:t>
            </a:r>
            <a:r>
              <a:rPr sz="1500">
                <a:solidFill>
                  <a:srgbClr val="1B2630"/>
                </a:solidFill>
                <a:latin typeface="Calibri"/>
              </a:rPr>
              <a:t>pedido, factura, cobranza y caja. Del PEI solo ve la referencia.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5 · FUNCIONES DEL SISTEMA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Módulo de Agendamiento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852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Agenda y horarios: </a:t>
            </a:r>
            <a:r>
              <a:rPr sz="1600">
                <a:solidFill>
                  <a:srgbClr val="1B2630"/>
                </a:solidFill>
                <a:latin typeface="Calibri"/>
              </a:rPr>
              <a:t>horario por profesional y consultorio, con casos especiales.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Citas: </a:t>
            </a:r>
            <a:r>
              <a:rPr sz="1600">
                <a:solidFill>
                  <a:srgbClr val="1B2630"/>
                </a:solidFill>
                <a:latin typeface="Calibri"/>
              </a:rPr>
              <a:t>reserva, confirmación, anulación y reagendamiento.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Lista de espera: </a:t>
            </a:r>
            <a:r>
              <a:rPr sz="1600">
                <a:solidFill>
                  <a:srgbClr val="1B2630"/>
                </a:solidFill>
                <a:latin typeface="Calibri"/>
              </a:rPr>
              <a:t>pacientes pendientes de turno.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Mi agenda: </a:t>
            </a:r>
            <a:r>
              <a:rPr sz="1600">
                <a:solidFill>
                  <a:srgbClr val="1B2630"/>
                </a:solidFill>
                <a:latin typeface="Calibri"/>
              </a:rPr>
              <a:t>vista del profesional Clínico, solo lectura y solo la suya.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Calendario: </a:t>
            </a:r>
            <a:r>
              <a:rPr sz="1600">
                <a:solidFill>
                  <a:srgbClr val="1B2630"/>
                </a:solidFill>
                <a:latin typeface="Calibri"/>
              </a:rPr>
              <a:t>vista mensual y semanal con estados de la cita.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Recordatorios: </a:t>
            </a:r>
            <a:r>
              <a:rPr sz="1600">
                <a:solidFill>
                  <a:srgbClr val="1B2630"/>
                </a:solidFill>
                <a:latin typeface="Calibri"/>
              </a:rPr>
              <a:t>avisos automáticos al paciente.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645920"/>
            <a:ext cx="4663440" cy="29260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Cambria"/>
              </a:rPr>
              <a:t>Rutas del módulo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agenda_horarios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cita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lista_espera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mi_agenda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referenciales (especialidad)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5 · FUNCIONES DEL SISTEMA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Módulo Clínico (consultorio)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Ficha del paciente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73736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Consulta y anamnesis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73736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Diagnóstico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73736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Registro clínico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73736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Orden de estudios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Receta e indicaciones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10896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Certificado médico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10896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Tratamiento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10896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PEI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3108960"/>
            <a:ext cx="2057400" cy="10515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Derivación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6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La consulta concentra el trabajo del profesional en una sola pantalla.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El acceso a cada ficha queda registrado y se limita al profesional que corresponde.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5 · FUNCIONES DEL SISTEMA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Módulo de Ventas y caja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Pedido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64592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Presupuesto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164592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Remisión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0263" y="164592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Factura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7180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Nota de crédito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297180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Nota de débito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5" y="297180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Apertura y cierre de caja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0263" y="297180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Arqueo de caja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Cobranza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429768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Cuenta a cobrar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429768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Recaudación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3" y="4297680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Libro de ventas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La factura emitida está protegida: solo puede pasar a anulada, y toda anulación genera una alerta.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5 · FUNCIONES DEL SISTEMA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Reportes y documentos impresos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852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Reportes unificados: </a:t>
            </a:r>
            <a:r>
              <a:rPr sz="1600">
                <a:solidFill>
                  <a:srgbClr val="1B2630"/>
                </a:solidFill>
                <a:latin typeface="Calibri"/>
              </a:rPr>
              <a:t>una pantalla con pestañas según el rol.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Clínico: </a:t>
            </a:r>
            <a:r>
              <a:rPr sz="1600">
                <a:solidFill>
                  <a:srgbClr val="1B2630"/>
                </a:solidFill>
                <a:latin typeface="Calibri"/>
              </a:rPr>
              <a:t>ve solo lo suyo.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Libro de Ventas: </a:t>
            </a:r>
            <a:r>
              <a:rPr sz="1600">
                <a:solidFill>
                  <a:srgbClr val="1B2630"/>
                </a:solidFill>
                <a:latin typeface="Calibri"/>
              </a:rPr>
              <a:t>reporte aparte para ventas.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Documentos: </a:t>
            </a:r>
            <a:r>
              <a:rPr sz="1600">
                <a:solidFill>
                  <a:srgbClr val="1B2630"/>
                </a:solidFill>
                <a:latin typeface="Calibri"/>
              </a:rPr>
              <a:t>fichas, consultas, recetas, certificados y facturas en PDF.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Ventas: </a:t>
            </a:r>
            <a:r>
              <a:rPr sz="1600">
                <a:solidFill>
                  <a:srgbClr val="1B2630"/>
                </a:solidFill>
                <a:latin typeface="Calibri"/>
              </a:rPr>
              <a:t>imprime solo la referencia del PEI, nunca su contenido clínico.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645920"/>
            <a:ext cx="4663440" cy="29260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28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Cambria"/>
              </a:rPr>
              <a:t>Servicios de generación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B2630"/>
                </a:solidFill>
                <a:latin typeface="Calibri"/>
              </a:rPr>
              <a:t>documento_clinico_pdf_service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B2630"/>
                </a:solidFill>
                <a:latin typeface="Calibri"/>
              </a:rPr>
              <a:t>documento_ventas_pdf_service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B2630"/>
                </a:solidFill>
                <a:latin typeface="Calibri"/>
              </a:rPr>
              <a:t>factura_pdf_service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B2630"/>
                </a:solidFill>
                <a:latin typeface="Calibri"/>
              </a:rPr>
              <a:t>informe_auditoria_service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B2630"/>
                </a:solidFill>
                <a:latin typeface="Calibri"/>
              </a:rPr>
              <a:t>reporte_service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5 · FUNCIONES DEL SISTEMA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Automatización, notificaciones e idiomas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24D"/>
                </a:solidFill>
                <a:latin typeface="Cambria"/>
              </a:rPr>
              <a:t>Tareas programadas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Recordatorios de cita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Control de agenda y consultas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Informe de auditoría semanal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Un bloqueo evita ejecutar dos veces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24D"/>
                </a:solidFill>
                <a:latin typeface="Cambria"/>
              </a:rPr>
              <a:t>Notificaciones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4231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Correo: códigos MFA, recuperación y alertas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WhatsApp (UltraMsg) a pacientes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Alertas a administradores ante anulaciones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4592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24D"/>
                </a:solidFill>
                <a:latin typeface="Cambria"/>
              </a:rPr>
              <a:t>Idiomas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4231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Español como idioma base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Inglés en curso con Flask-Babel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Guaraní pendiente de validación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6 · SEGURIDAD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Seguridad en capas para datos de salud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743200" cy="73152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Transporte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4572000" cy="73152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2630"/>
                </a:solidFill>
                <a:latin typeface="Calibri"/>
              </a:rPr>
              <a:t>HTTPS con TLS 1.2 y 1.3; HSTS en el servidor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2743200" cy="73152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Autenticación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514600"/>
            <a:ext cx="4572000" cy="73152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60604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2630"/>
                </a:solidFill>
                <a:latin typeface="Calibri"/>
              </a:rPr>
              <a:t>Contraseña robusta, segundo factor y bloqueo escalonado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2743200" cy="73152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Autorización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383280"/>
            <a:ext cx="4572000" cy="73152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474720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2630"/>
                </a:solidFill>
                <a:latin typeface="Calibri"/>
              </a:rPr>
              <a:t>Roles y permisos por módulo; cada rol ve solo lo suyo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59"/>
            <a:ext cx="2743200" cy="731520"/>
          </a:xfrm>
          <a:prstGeom prst="roundRect">
            <a:avLst>
              <a:gd name="adj" fmla="val 6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251959"/>
            <a:ext cx="4572000" cy="73152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343399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2630"/>
                </a:solidFill>
                <a:latin typeface="Calibri"/>
              </a:rPr>
              <a:t>Usuario de base con mínimo privilegio y triggers de integridad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2743200" cy="73152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Auditoría y continuidad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5120640"/>
            <a:ext cx="4572000" cy="73152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5212079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2630"/>
                </a:solidFill>
                <a:latin typeface="Calibri"/>
              </a:rPr>
              <a:t>Registro inmutable de cambios y respaldos cifrados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1645920"/>
            <a:ext cx="3200400" cy="416052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Cambria"/>
              </a:rPr>
              <a:t>Clasificación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331720"/>
            <a:ext cx="28346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b="1" sz="1400">
                <a:solidFill>
                  <a:srgbClr val="17324D"/>
                </a:solidFill>
                <a:latin typeface="Calibri"/>
              </a:rPr>
              <a:t>Sensible: </a:t>
            </a:r>
            <a:r>
              <a:rPr sz="1400">
                <a:solidFill>
                  <a:srgbClr val="1B2630"/>
                </a:solidFill>
                <a:latin typeface="Calibri"/>
              </a:rPr>
              <a:t>historia clínica, datos de pacientes y credenciales.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b="1" sz="1400">
                <a:solidFill>
                  <a:srgbClr val="17324D"/>
                </a:solidFill>
                <a:latin typeface="Calibri"/>
              </a:rPr>
              <a:t>Interna: </a:t>
            </a:r>
            <a:r>
              <a:rPr sz="1400">
                <a:solidFill>
                  <a:srgbClr val="1B2630"/>
                </a:solidFill>
                <a:latin typeface="Calibri"/>
              </a:rPr>
              <a:t>facturación, caja y agenda.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b="1" sz="1400">
                <a:solidFill>
                  <a:srgbClr val="17324D"/>
                </a:solidFill>
                <a:latin typeface="Calibri"/>
              </a:rPr>
              <a:t>Pública: </a:t>
            </a:r>
            <a:r>
              <a:rPr sz="1400">
                <a:solidFill>
                  <a:srgbClr val="1B2630"/>
                </a:solidFill>
                <a:latin typeface="Calibri"/>
              </a:rPr>
              <a:t>inicio de sesión y manual.</a:t>
            </a:r>
          </a:p>
        </p:txBody>
      </p:sp>
      <p:sp>
        <p:nvSpPr>
          <p:cNvPr id="24" name="Fuente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770"/>
                </a:solidFill>
                <a:latin typeface="Calibri"/>
              </a:rPr>
              <a:t>Fuente: Políticas de seguridad de la información v1.1 (2026-10-19).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6 · SEGURIDAD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Autenticación: reglas vigentes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85039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91440" marR="91440" marT="36576" marB="36576" anchor="ctr"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Valor vigente</a:t>
                      </a:r>
                    </a:p>
                  </a:txBody>
                  <a:tcPr marL="91440" marR="91440" marT="36576" marB="36576" anchor="ctr">
                    <a:solidFill>
                      <a:srgbClr val="17324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7324D"/>
                          </a:solidFill>
                          <a:latin typeface="Calibri"/>
                        </a:rPr>
                        <a:t>Contraseña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630"/>
                          </a:solidFill>
                          <a:latin typeface="Calibri"/>
                        </a:rPr>
                        <a:t>8 a 16 caracteres con mayúscula, minúscula, número y símbolo; vence a los 90 días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7324D"/>
                          </a:solidFill>
                          <a:latin typeface="Calibri"/>
                        </a:rPr>
                        <a:t>Almacenamiento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630"/>
                          </a:solidFill>
                          <a:latin typeface="Calibri"/>
                        </a:rPr>
                        <a:t>Solo el hash (pbkdf2:sha256); nunca la contraseña en texto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7324D"/>
                          </a:solidFill>
                          <a:latin typeface="Calibri"/>
                        </a:rPr>
                        <a:t>Segundo factor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630"/>
                          </a:solidFill>
                          <a:latin typeface="Calibri"/>
                        </a:rPr>
                        <a:t>Código por correo de 5 minutos, máximo 5 intentos; dispositivo confiable 60 días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7324D"/>
                          </a:solidFill>
                          <a:latin typeface="Calibri"/>
                        </a:rPr>
                        <a:t>Bloqueo escalonado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630"/>
                          </a:solidFill>
                          <a:latin typeface="Calibri"/>
                        </a:rPr>
                        <a:t>5 fallos: 30 min; 3 más: 1 h; 3 más: bloqueo hasta que un administrador lo levante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7324D"/>
                          </a:solidFill>
                          <a:latin typeface="Calibri"/>
                        </a:rPr>
                        <a:t>Límite por equipo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630"/>
                          </a:solidFill>
                          <a:latin typeface="Calibri"/>
                        </a:rPr>
                        <a:t>10 fallos desde una misma IP en 15 minutos frenan el acceso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7324D"/>
                          </a:solidFill>
                          <a:latin typeface="Calibri"/>
                        </a:rPr>
                        <a:t>Recuperación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630"/>
                          </a:solidFill>
                          <a:latin typeface="Calibri"/>
                        </a:rPr>
                        <a:t>Enlace de 24 h y un solo uso; máximo 3 solicitudes por hora; mensaje genérico</a:t>
                      </a:r>
                    </a:p>
                  </a:txBody>
                  <a:tcPr marL="91440" marR="91440" marT="36576" marB="36576" anchor="ctr">
                    <a:solidFill>
                      <a:srgbClr val="ECF2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7324D"/>
                          </a:solidFill>
                          <a:latin typeface="Calibri"/>
                        </a:rPr>
                        <a:t>Sesión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630"/>
                          </a:solidFill>
                          <a:latin typeface="Calibri"/>
                        </a:rPr>
                        <a:t>60 min como máximo, 20 min de inactividad, una sesión por usuario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uente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770"/>
                </a:solidFill>
                <a:latin typeface="Calibri"/>
              </a:rPr>
              <a:t>Fuente: Políticas de seguridad de la información, sección 3.1.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6 · SEGURIDAD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Autorización: cada rol ve únicamente lo que necesita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103120" cy="310896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324D"/>
                </a:solidFill>
                <a:latin typeface="Cambria"/>
              </a:rPr>
              <a:t>Administrador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1828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630"/>
                </a:solidFill>
                <a:latin typeface="Calibri"/>
              </a:rPr>
              <a:t>Las 4 pestañas de auditoría, usuarios, accesos y permisos.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8064" y="1645920"/>
            <a:ext cx="2103120" cy="310896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224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324D"/>
                </a:solidFill>
                <a:latin typeface="Cambria"/>
              </a:rPr>
              <a:t>Recepción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2286000"/>
            <a:ext cx="1828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630"/>
                </a:solidFill>
                <a:latin typeface="Calibri"/>
              </a:rPr>
              <a:t>Agenda, citas y fichas. En auditoría, solo cambios de agendamiento.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8" y="1645920"/>
            <a:ext cx="2103120" cy="310896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648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324D"/>
                </a:solidFill>
                <a:latin typeface="Cambria"/>
              </a:rPr>
              <a:t>Clínico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2286000"/>
            <a:ext cx="1828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630"/>
                </a:solidFill>
                <a:latin typeface="Calibri"/>
              </a:rPr>
              <a:t>Su agenda en solo lectura. Reportes y auditoría limitados a lo propio.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1645920"/>
            <a:ext cx="2103120" cy="310896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1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324D"/>
                </a:solidFill>
                <a:latin typeface="Cambria"/>
              </a:rPr>
              <a:t>Ventas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1" y="2286000"/>
            <a:ext cx="1828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630"/>
                </a:solidFill>
                <a:latin typeface="Calibri"/>
              </a:rPr>
              <a:t>Facturación y caja. Del PEI, solo la referencia; en auditoría, solo cantidades.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46336" y="1645920"/>
            <a:ext cx="2103120" cy="310896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324D"/>
                </a:solidFill>
                <a:latin typeface="Cambria"/>
              </a:rPr>
              <a:t>Superadmin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2286000"/>
            <a:ext cx="1828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630"/>
                </a:solidFill>
                <a:latin typeface="Calibri"/>
              </a:rPr>
              <a:t>Ve todo salvo los cambios del módulo clínico.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Mecanismo: tabla de módulos y permisos por rol; el menú se arma según lo permitido y cada ruta valida el permiso en el servidor.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6 · SEGURIDAD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Auditoría e integridad de los datos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035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Una pantalla, cuatro pestañas: </a:t>
            </a:r>
            <a:r>
              <a:rPr sz="1600">
                <a:solidFill>
                  <a:srgbClr val="1B2630"/>
                </a:solidFill>
                <a:latin typeface="Calibri"/>
              </a:rPr>
              <a:t>cambios en datos, eventos, accesos y sesiones.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Antes y después: </a:t>
            </a:r>
            <a:r>
              <a:rPr sz="1600">
                <a:solidFill>
                  <a:srgbClr val="1B2630"/>
                </a:solidFill>
                <a:latin typeface="Calibri"/>
              </a:rPr>
              <a:t>triggers registran cada cambio en las tablas críticas sin frenar la operación.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Sin borrado: </a:t>
            </a:r>
            <a:r>
              <a:rPr sz="1600">
                <a:solidFill>
                  <a:srgbClr val="1B2630"/>
                </a:solidFill>
                <a:latin typeface="Calibri"/>
              </a:rPr>
              <a:t>la auditoría no se elimina nunca.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Factura protegida: </a:t>
            </a:r>
            <a:r>
              <a:rPr sz="1600">
                <a:solidFill>
                  <a:srgbClr val="1B2630"/>
                </a:solidFill>
                <a:latin typeface="Calibri"/>
              </a:rPr>
              <a:t>solo se permite pasar de emitida a anulada.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Alertas: </a:t>
            </a:r>
            <a:r>
              <a:rPr sz="1600">
                <a:solidFill>
                  <a:srgbClr val="1B2630"/>
                </a:solidFill>
                <a:latin typeface="Calibri"/>
              </a:rPr>
              <a:t>correo a los administradores ante anulaciones, notas y cambios fuera de horario.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480560" cy="356616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ifra"/>
          <p:cNvSpPr txBox="1"/>
          <p:nvPr/>
        </p:nvSpPr>
        <p:spPr>
          <a:xfrm>
            <a:off x="7498079" y="182880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7F86"/>
                </a:solidFill>
                <a:latin typeface="Cambria"/>
              </a:rPr>
              <a:t>Cada lunes</a:t>
            </a:r>
          </a:p>
        </p:txBody>
      </p:sp>
      <p:sp>
        <p:nvSpPr>
          <p:cNvPr id="9" name="Cifra etiqueta"/>
          <p:cNvSpPr txBox="1"/>
          <p:nvPr/>
        </p:nvSpPr>
        <p:spPr>
          <a:xfrm>
            <a:off x="7498079" y="26060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informe semanal en PDF a los administradores</a:t>
            </a:r>
          </a:p>
        </p:txBody>
      </p:sp>
      <p:sp>
        <p:nvSpPr>
          <p:cNvPr id="10" name="Cifra"/>
          <p:cNvSpPr txBox="1"/>
          <p:nvPr/>
        </p:nvSpPr>
        <p:spPr>
          <a:xfrm>
            <a:off x="7498079" y="356616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7324D"/>
                </a:solidFill>
                <a:latin typeface="Cambria"/>
              </a:rPr>
              <a:t>4 pestañas</a:t>
            </a:r>
          </a:p>
        </p:txBody>
      </p:sp>
      <p:sp>
        <p:nvSpPr>
          <p:cNvPr id="11" name="Cifra etiqueta"/>
          <p:cNvSpPr txBox="1"/>
          <p:nvPr/>
        </p:nvSpPr>
        <p:spPr>
          <a:xfrm>
            <a:off x="7498079" y="43434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visibles según el rol de quien consulta</a:t>
            </a:r>
          </a:p>
        </p:txBody>
      </p:sp>
      <p:sp>
        <p:nvSpPr>
          <p:cNvPr id="12" name="Fuente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770"/>
                </a:solidFill>
                <a:latin typeface="Calibri"/>
              </a:rPr>
              <a:t>Fuente: Plan de auditoría y triggers (PDF 9 + 6), decisiones del 2026-10-18.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6 · SEGURIDAD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Protección de datos e infraestructura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24D"/>
                </a:solidFill>
                <a:latin typeface="Cambria"/>
              </a:rPr>
              <a:t>Aplicación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Cookie HttpOnly y SameSite=Lax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Secure en el servidor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SECRET_KEY de 32 caracteres o más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24D"/>
                </a:solidFill>
                <a:latin typeface="Cambria"/>
              </a:rPr>
              <a:t>Credenciales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42316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El archivo .env no se sube al repositorio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Rotación cada 6 meses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Rol de base con mínimo privilegio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4592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828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24D"/>
                </a:solidFill>
                <a:latin typeface="Cambria"/>
              </a:rPr>
              <a:t>Respaldo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42316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pg_dump diario cifrado con GPG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Clave privada fuera del servidor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Retención de 14 días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060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4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A94F38"/>
                </a:solidFill>
                <a:latin typeface="Calibri"/>
              </a:rPr>
              <a:t>Limitación declarada: las cuentas de prueba del entorno de desarrollo no usan MFA ni vencen. Antes de producción, toda cuenta debe vencer a los 90 días y los administradores deben usar MFA.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7 · CIERRE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Documentación y verificación del sistema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40480" cy="365760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fra"/>
          <p:cNvSpPr txBox="1"/>
          <p:nvPr/>
        </p:nvSpPr>
        <p:spPr>
          <a:xfrm>
            <a:off x="914400" y="18288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7324D"/>
                </a:solidFill>
                <a:latin typeface="Cambria"/>
              </a:rPr>
              <a:t>10</a:t>
            </a:r>
          </a:p>
        </p:txBody>
      </p:sp>
      <p:sp>
        <p:nvSpPr>
          <p:cNvPr id="8" name="Cifra etiqueta"/>
          <p:cNvSpPr txBox="1"/>
          <p:nvPr/>
        </p:nvSpPr>
        <p:spPr>
          <a:xfrm>
            <a:off x="914400" y="26060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rúbricas evaluadas</a:t>
            </a:r>
          </a:p>
        </p:txBody>
      </p:sp>
      <p:sp>
        <p:nvSpPr>
          <p:cNvPr id="9" name="Cifra"/>
          <p:cNvSpPr txBox="1"/>
          <p:nvPr/>
        </p:nvSpPr>
        <p:spPr>
          <a:xfrm>
            <a:off x="914400" y="35661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7F86"/>
                </a:solidFill>
                <a:latin typeface="Cambria"/>
              </a:rPr>
              <a:t>99</a:t>
            </a:r>
          </a:p>
        </p:txBody>
      </p:sp>
      <p:sp>
        <p:nvSpPr>
          <p:cNvPr id="10" name="Cifra etiqueta"/>
          <p:cNvSpPr txBox="1"/>
          <p:nvPr/>
        </p:nvSpPr>
        <p:spPr>
          <a:xfrm>
            <a:off x="914400" y="43434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criterios revisados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37360"/>
            <a:ext cx="66751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Manuales: </a:t>
            </a:r>
            <a:r>
              <a:rPr sz="1600">
                <a:solidFill>
                  <a:srgbClr val="1B2630"/>
                </a:solidFill>
                <a:latin typeface="Calibri"/>
              </a:rPr>
              <a:t>usuario (por rol), sistema, seguridad e infraestructura.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Diseño: </a:t>
            </a:r>
            <a:r>
              <a:rPr sz="1600">
                <a:solidFill>
                  <a:srgbClr val="1B2630"/>
                </a:solidFill>
                <a:latin typeface="Calibri"/>
              </a:rPr>
              <a:t>7 diagramas UML y DER sincronizado con la base real.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Pruebas: </a:t>
            </a:r>
            <a:r>
              <a:rPr sz="1600">
                <a:solidFill>
                  <a:srgbClr val="1B2630"/>
                </a:solidFill>
                <a:latin typeface="Calibri"/>
              </a:rPr>
              <a:t>prueba integral con datos ficticios y capturas automatizadas con Playwright.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b="1" sz="1600">
                <a:solidFill>
                  <a:srgbClr val="17324D"/>
                </a:solidFill>
                <a:latin typeface="Calibri"/>
              </a:rPr>
              <a:t>Políticas: </a:t>
            </a:r>
            <a:r>
              <a:rPr sz="1600">
                <a:solidFill>
                  <a:srgbClr val="1B2630"/>
                </a:solidFill>
                <a:latin typeface="Calibri"/>
              </a:rPr>
              <a:t>seguridad de la información con revisión cada 6 meses.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7 · CIERRE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Conclusiones y trabajo futuro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24D"/>
                </a:solidFill>
                <a:latin typeface="Cambria"/>
              </a:rPr>
              <a:t>Conclusiones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9377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El sistema integra agendamiento, consultorio y ventas en una sola plataforma.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El acceso por rol protege los datos clínicos frente a áreas que no los necesitan.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La auditoría y los respaldos dan trazabilidad y continuidad.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303520" cy="3291840"/>
          </a:xfrm>
          <a:prstGeom prst="roundRect">
            <a:avLst>
              <a:gd name="adj" fmla="val 6000"/>
            </a:avLst>
          </a:prstGeom>
          <a:solidFill>
            <a:srgbClr val="EC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24D"/>
                </a:solidFill>
                <a:latin typeface="Cambria"/>
              </a:rPr>
              <a:t>Trabajo futuro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Completar y validar los idiomas inglés y guaraní.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Exigir MFA y vencimiento de claves en producción.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Publicar en servidor con certificado Let’s Encrypt.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Atender las mejoras posteriores a la defensa.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ción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A7F86"/>
                </a:solidFill>
                <a:latin typeface="Calibri"/>
              </a:rPr>
              <a:t>7 · CIERRE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Cambria"/>
              </a:rPr>
              <a:t>Referencias</a:t>
            </a:r>
          </a:p>
        </p:txBody>
      </p:sp>
      <p:sp>
        <p:nvSpPr>
          <p:cNvPr id="4" name="Pie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Sysclin · Trabajo de Culminación de Grado · 2026</a:t>
            </a:r>
          </a:p>
        </p:txBody>
      </p:sp>
      <p:sp>
        <p:nvSpPr>
          <p:cNvPr id="5" name="Número"/>
          <p:cNvSpPr txBox="1"/>
          <p:nvPr/>
        </p:nvSpPr>
        <p:spPr>
          <a:xfrm>
            <a:off x="10698480" y="6400800"/>
            <a:ext cx="9418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AdminLTE. (s. f.). AdminLTE 4 documentation. https://adminlte.io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Bootstrap. (s. f.). Bootstrap 5 documentation. https://getbootstrap.com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Docker Inc. (s. f.). Docker Compose documentation. https://docs.docker.com/compose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OWASP Foundation. (s. f.). Application Security Verification Standard. https://owasp.org/www-project-application-security-verification-standard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Pallets. (s. f.). Flask documentation. https://flask.palletsprojects.com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500">
                <a:solidFill>
                  <a:srgbClr val="1B2630"/>
                </a:solidFill>
                <a:latin typeface="Calibri"/>
              </a:rPr>
              <a:t>PostgreSQL Global Development Group. (s. f.). PostgreSQL 17 documentation. https://www.postgresql.org/docs/17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